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png" ContentType="image/png"/>
  <Override PartName="/ppt/media/image3.png" ContentType="image/png"/>
  <Override PartName="/ppt/media/image9.jpeg" ContentType="image/jpeg"/>
  <Override PartName="/ppt/media/image4.png" ContentType="image/png"/>
  <Override PartName="/ppt/media/image5.png" ContentType="image/png"/>
  <Override PartName="/ppt/media/image8.jpeg" ContentType="image/jpeg"/>
  <Override PartName="/ppt/media/image6.jpeg" ContentType="image/jpeg"/>
  <Override PartName="/ppt/media/image7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408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2316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4"/>
          </p:nvPr>
        </p:nvSpPr>
        <p:spPr>
          <a:xfrm>
            <a:off x="2911680" y="0"/>
            <a:ext cx="22316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5"/>
          </p:nvPr>
        </p:nvSpPr>
        <p:spPr>
          <a:xfrm>
            <a:off x="0" y="8686800"/>
            <a:ext cx="22316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6"/>
          </p:nvPr>
        </p:nvSpPr>
        <p:spPr>
          <a:xfrm>
            <a:off x="2911680" y="8686800"/>
            <a:ext cx="22316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30EB382-C930-4618-BD79-DB30BCA1C83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add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146791-A995-4120-B4DB-0478E73EC7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add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BD817D-7614-4351-BF25-4C37A51CB3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add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D6112C-8795-421C-859C-2AF584DC3F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add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A85BF6-7E5E-446D-8E24-D0AB2331A5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add Notes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674923-3823-482D-A670-B3DA56F8CCD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add Notes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D7058B-FE16-43B2-B437-A7788344D4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add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3EFE33-2721-4439-8009-9D581423BE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add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9F108E-0B17-4284-9316-3764741DBC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add Notes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3678EC-872B-46B0-9BFC-1F4A0B2E0B1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add Notes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6887B7-5627-4A7E-B3EA-CE92BF46E0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3DE1EC-CDA0-4188-9F6B-0CAF5A50A1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1"/>
          </p:nvPr>
        </p:nvSpPr>
        <p:spPr>
          <a:xfrm>
            <a:off x="457200" y="4685760"/>
            <a:ext cx="2130120" cy="35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2"/>
          </p:nvPr>
        </p:nvSpPr>
        <p:spPr>
          <a:xfrm>
            <a:off x="3126960" y="4685760"/>
            <a:ext cx="2898000" cy="35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3"/>
          </p:nvPr>
        </p:nvSpPr>
        <p:spPr>
          <a:xfrm>
            <a:off x="6555960" y="4685760"/>
            <a:ext cx="2130120" cy="35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6290EEF-DE38-4693-9221-0969EB4478A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85000">
              <a:srgbClr val="127622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"/>
          <p:cNvSpPr/>
          <p:nvPr/>
        </p:nvSpPr>
        <p:spPr>
          <a:xfrm>
            <a:off x="86400" y="4667400"/>
            <a:ext cx="8411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9c5cc"/>
                </a:solidFill>
                <a:latin typeface="Calibri"/>
                <a:ea typeface="Calibri"/>
              </a:rPr>
              <a:t>MBARARA UNIVERSITY OF SCIENCE AND TECHNOLOGY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9c5cc"/>
                </a:solidFill>
                <a:latin typeface="Calibri"/>
                <a:ea typeface="Calibri"/>
              </a:rPr>
              <a:t>FACULTY OF COMPUTING AND INFORMATICS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9c5cc"/>
                </a:solidFill>
                <a:latin typeface="Calibri"/>
                <a:ea typeface="Calibri"/>
              </a:rPr>
              <a:t>DATABASE SYSTEMS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9c5cc"/>
                </a:solidFill>
                <a:latin typeface="Calibri"/>
                <a:ea typeface="Calibri"/>
              </a:rPr>
              <a:t>INDIVIDUAL PROJECT PRESENTATION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365760" y="914400"/>
            <a:ext cx="731412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000000"/>
                </a:solidFill>
                <a:latin typeface="Georgia"/>
                <a:ea typeface="Georgia"/>
              </a:rPr>
              <a:t>Hotel Billing &amp;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000000"/>
                </a:solidFill>
                <a:latin typeface="Georgia"/>
                <a:ea typeface="Georgia"/>
              </a:rPr>
              <a:t>Payment System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365760" y="3017520"/>
            <a:ext cx="7314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f4a435"/>
                </a:solidFill>
                <a:latin typeface="Calibri"/>
                <a:ea typeface="Calibri"/>
              </a:rPr>
              <a:t>Database Management Systems — Individual Project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149760" y="406332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acccc"/>
                </a:solidFill>
                <a:latin typeface="Calibri"/>
                <a:ea typeface="Calibri"/>
              </a:rPr>
              <a:t>Presented by: TUSIIME BETTY  |  Group 6  |  May 2026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5589720" y="2795400"/>
            <a:ext cx="3567960" cy="237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0a933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" name="Text 1"/>
          <p:cNvSpPr/>
          <p:nvPr/>
        </p:nvSpPr>
        <p:spPr>
          <a:xfrm>
            <a:off x="365760" y="0"/>
            <a:ext cx="84114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PRESENTATION OUTLINE</a:t>
            </a:r>
            <a:endParaRPr b="0" lang="en-US" sz="2200" spc="-1" strike="noStrike">
              <a:ln>
                <a:solidFill>
                  <a:srgbClr val="000000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320040" y="1005840"/>
            <a:ext cx="4205160" cy="100476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14400" y="111564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93b"/>
                </a:solidFill>
                <a:latin typeface="Georgia"/>
                <a:ea typeface="Georgia"/>
              </a:rPr>
              <a:t>Business Case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1508760"/>
            <a:ext cx="3473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Why build this system?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4754880" y="1005840"/>
            <a:ext cx="4205160" cy="100476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" name="Text 9"/>
          <p:cNvSpPr/>
          <p:nvPr/>
        </p:nvSpPr>
        <p:spPr>
          <a:xfrm>
            <a:off x="4754880" y="1005840"/>
            <a:ext cx="5018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5349240" y="111564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93b"/>
                </a:solidFill>
                <a:latin typeface="Georgia"/>
                <a:ea typeface="Georgia"/>
              </a:rPr>
              <a:t>System Design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5349240" y="1508760"/>
            <a:ext cx="3473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Entities, attributes &amp; relationships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320040" y="2240280"/>
            <a:ext cx="4205160" cy="100476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320040" y="2240280"/>
            <a:ext cx="5018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914400" y="235008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93b"/>
                </a:solidFill>
                <a:latin typeface="Georgia"/>
                <a:ea typeface="Georgia"/>
              </a:rPr>
              <a:t>ER Daigram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914400" y="2743200"/>
            <a:ext cx="3473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Entity Relationship Diagram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4754880" y="2240280"/>
            <a:ext cx="4205160" cy="100476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5349240" y="235008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93b"/>
                </a:solidFill>
                <a:latin typeface="Georgia"/>
                <a:ea typeface="Georgia"/>
              </a:rPr>
              <a:t>Implementation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5349240" y="2743200"/>
            <a:ext cx="3473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Database creation &amp; data loading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320040" y="3474720"/>
            <a:ext cx="4205160" cy="100476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Text 24"/>
          <p:cNvSpPr/>
          <p:nvPr/>
        </p:nvSpPr>
        <p:spPr>
          <a:xfrm>
            <a:off x="320040" y="3474720"/>
            <a:ext cx="5018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" name="Text 25"/>
          <p:cNvSpPr/>
          <p:nvPr/>
        </p:nvSpPr>
        <p:spPr>
          <a:xfrm>
            <a:off x="914400" y="358452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93b"/>
                </a:solidFill>
                <a:latin typeface="Georgia"/>
                <a:ea typeface="Georgia"/>
              </a:rPr>
              <a:t>Sample Queries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6"/>
          <p:cNvSpPr/>
          <p:nvPr/>
        </p:nvSpPr>
        <p:spPr>
          <a:xfrm>
            <a:off x="914400" y="3977640"/>
            <a:ext cx="3473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Key queries &amp; results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27"/>
          <p:cNvSpPr/>
          <p:nvPr/>
        </p:nvSpPr>
        <p:spPr>
          <a:xfrm>
            <a:off x="4754880" y="3474720"/>
            <a:ext cx="4205160" cy="100476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" name="Text 30"/>
          <p:cNvSpPr/>
          <p:nvPr/>
        </p:nvSpPr>
        <p:spPr>
          <a:xfrm>
            <a:off x="5349240" y="358452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93b"/>
                </a:solidFill>
                <a:latin typeface="Georgia"/>
                <a:ea typeface="Georgia"/>
              </a:rPr>
              <a:t>Conclusion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5349240" y="3977640"/>
            <a:ext cx="3473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Summary &amp; reflections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0a933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" name="Text 1"/>
          <p:cNvSpPr/>
          <p:nvPr/>
        </p:nvSpPr>
        <p:spPr>
          <a:xfrm>
            <a:off x="365760" y="0"/>
            <a:ext cx="84114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BUSINESS CASE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320040" y="960120"/>
            <a:ext cx="4022280" cy="374796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320040" y="960120"/>
            <a:ext cx="4022280" cy="437760"/>
          </a:xfrm>
          <a:prstGeom prst="rect">
            <a:avLst/>
          </a:prstGeom>
          <a:solidFill>
            <a:srgbClr val="158466"/>
          </a:solidFill>
          <a:ln w="126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Text 4"/>
          <p:cNvSpPr/>
          <p:nvPr/>
        </p:nvSpPr>
        <p:spPr>
          <a:xfrm>
            <a:off x="411480" y="960120"/>
            <a:ext cx="3839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  <a:ea typeface="Georgia"/>
              </a:rPr>
              <a:t>What the system does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502920" y="1508760"/>
            <a:ext cx="3656520" cy="30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Records guest check-ins and bookings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Generates invoices for room stays and services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Tracks payments (cash, card, mobile money)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Issues receipts as proof of payment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Monitors unpaid and partial balances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4800600" y="960120"/>
            <a:ext cx="4022280" cy="374796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4800600" y="960120"/>
            <a:ext cx="4022280" cy="437760"/>
          </a:xfrm>
          <a:prstGeom prst="rect">
            <a:avLst/>
          </a:prstGeom>
          <a:solidFill>
            <a:srgbClr val="158466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Text 8"/>
          <p:cNvSpPr/>
          <p:nvPr/>
        </p:nvSpPr>
        <p:spPr>
          <a:xfrm>
            <a:off x="4892040" y="960120"/>
            <a:ext cx="3839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  <a:ea typeface="Georgia"/>
              </a:rPr>
              <a:t>Key benefits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4892040" y="1508760"/>
            <a:ext cx="3656520" cy="30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Eliminates manual billing errors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Faster payment processing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Real-time revenue monitoring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Improved guest satisfaction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Full audit trail for accountability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0a933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6" name="Text 1"/>
          <p:cNvSpPr/>
          <p:nvPr/>
        </p:nvSpPr>
        <p:spPr>
          <a:xfrm>
            <a:off x="365760" y="0"/>
            <a:ext cx="84114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SYSTEM DESIGN — ENTITIES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320040" y="960120"/>
            <a:ext cx="274212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Text 4"/>
          <p:cNvSpPr/>
          <p:nvPr/>
        </p:nvSpPr>
        <p:spPr>
          <a:xfrm>
            <a:off x="521280" y="105156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Guest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521280" y="1435680"/>
            <a:ext cx="2422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( GuestID, full_name, Email, Phone, NationalID, Nationality, Address)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246120" y="960120"/>
            <a:ext cx="274212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447360" y="105156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Room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3447360" y="1435680"/>
            <a:ext cx="2422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(RoomID, room_number, room_type, price_per_night, status, floor)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6172200" y="960120"/>
            <a:ext cx="274212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6373440" y="105156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Booking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6373440" y="1435680"/>
            <a:ext cx="2422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(BookingID,  GuestID,  RoomID, check_in, check-out, booking_date, status)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320040" y="2286000"/>
            <a:ext cx="274212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521280" y="237744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Service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521280" y="2761560"/>
            <a:ext cx="2422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( ServiceID, service_name, description, price)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3246120" y="2322000"/>
            <a:ext cx="274212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3447360" y="237744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Invoice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3447360" y="2761560"/>
            <a:ext cx="2422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( InvoiceID, BookingID, issue_date, amount, status)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2"/>
          <p:cNvSpPr/>
          <p:nvPr/>
        </p:nvSpPr>
        <p:spPr>
          <a:xfrm>
            <a:off x="6172200" y="2286000"/>
            <a:ext cx="274212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6373440" y="237744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Invoice Item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6373440" y="2761560"/>
            <a:ext cx="2422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(ItemID, ServiceID,  Quantity, unit_price, sub_total)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6"/>
          <p:cNvSpPr/>
          <p:nvPr/>
        </p:nvSpPr>
        <p:spPr>
          <a:xfrm>
            <a:off x="320040" y="3611880"/>
            <a:ext cx="274212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6" name="Text 28"/>
          <p:cNvSpPr/>
          <p:nvPr/>
        </p:nvSpPr>
        <p:spPr>
          <a:xfrm>
            <a:off x="521280" y="37033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Payment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9"/>
          <p:cNvSpPr/>
          <p:nvPr/>
        </p:nvSpPr>
        <p:spPr>
          <a:xfrm>
            <a:off x="521280" y="4087440"/>
            <a:ext cx="2422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(PaymentID, InvoiceID, StaffID, amount_paid, date, method, transaction_ref)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0"/>
          <p:cNvSpPr/>
          <p:nvPr/>
        </p:nvSpPr>
        <p:spPr>
          <a:xfrm>
            <a:off x="3246120" y="3611880"/>
            <a:ext cx="274212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" name="Text 32"/>
          <p:cNvSpPr/>
          <p:nvPr/>
        </p:nvSpPr>
        <p:spPr>
          <a:xfrm>
            <a:off x="3447360" y="37033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Receipt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33"/>
          <p:cNvSpPr/>
          <p:nvPr/>
        </p:nvSpPr>
        <p:spPr>
          <a:xfrm>
            <a:off x="3447360" y="4087440"/>
            <a:ext cx="2422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(ReceiptID, PaymentID, issue_date, issued_by)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34"/>
          <p:cNvSpPr/>
          <p:nvPr/>
        </p:nvSpPr>
        <p:spPr>
          <a:xfrm>
            <a:off x="6172200" y="3611880"/>
            <a:ext cx="274212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" name="Text 36"/>
          <p:cNvSpPr/>
          <p:nvPr/>
        </p:nvSpPr>
        <p:spPr>
          <a:xfrm>
            <a:off x="6373440" y="37033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Staff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7"/>
          <p:cNvSpPr/>
          <p:nvPr/>
        </p:nvSpPr>
        <p:spPr>
          <a:xfrm>
            <a:off x="6373440" y="4087440"/>
            <a:ext cx="2422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(StaffID, full_name, Role, Email, Phone)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0a933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5" name="Text 1"/>
          <p:cNvSpPr/>
          <p:nvPr/>
        </p:nvSpPr>
        <p:spPr>
          <a:xfrm>
            <a:off x="365760" y="0"/>
            <a:ext cx="84114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ENTITY RELATIONSHIPS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6" name="Table 0"/>
          <p:cNvGraphicFramePr/>
          <p:nvPr/>
        </p:nvGraphicFramePr>
        <p:xfrm>
          <a:off x="320040" y="914400"/>
          <a:ext cx="8503560" cy="397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286000"/>
                <a:gridCol w="2011680"/>
              </a:tblGrid>
              <a:tr h="3974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Entity A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1584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Relationship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1584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Entity B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1584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Multiplicity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158466"/>
                    </a:solidFill>
                  </a:tcPr>
                </a:tc>
              </a:tr>
              <a:tr h="39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Guest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makes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Booking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1 : 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Room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assigned to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Booking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1 : 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</a:tr>
              <a:tr h="39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Booking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generates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Invoice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1 : 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Invoice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contains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Invoice Item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1 : 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</a:tr>
              <a:tr h="39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Service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appears in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Invoice Item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1 : 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Invoice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settled by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Payment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1 : 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</a:tr>
              <a:tr h="39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Staff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processes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Payment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1 : 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Payment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generates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Receipt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1 : 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e8f4f8"/>
                    </a:solidFill>
                  </a:tcPr>
                </a:tc>
              </a:tr>
              <a:tr h="39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Staff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issues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Receipt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1 : 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ce4ea"/>
                      </a:solidFill>
                      <a:prstDash val="solid"/>
                    </a:lnL>
                    <a:lnR w="6480">
                      <a:solidFill>
                        <a:srgbClr val="cce4ea"/>
                      </a:solidFill>
                      <a:prstDash val="solid"/>
                    </a:lnR>
                    <a:lnT w="6480">
                      <a:solidFill>
                        <a:srgbClr val="cce4ea"/>
                      </a:solidFill>
                      <a:prstDash val="solid"/>
                    </a:lnT>
                    <a:lnB w="6480">
                      <a:solidFill>
                        <a:srgbClr val="c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0a933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" name="Text 1"/>
          <p:cNvSpPr/>
          <p:nvPr/>
        </p:nvSpPr>
        <p:spPr>
          <a:xfrm>
            <a:off x="365760" y="0"/>
            <a:ext cx="84114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ENTITY RELATIONSHIP DIAGRAM (ERD)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320040" y="960120"/>
            <a:ext cx="8502840" cy="38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Text 4"/>
          <p:cNvSpPr/>
          <p:nvPr/>
        </p:nvSpPr>
        <p:spPr>
          <a:xfrm>
            <a:off x="320040" y="443484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Screenshot from MariaDB / draw.io ERD diagram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0" y="822240"/>
            <a:ext cx="9143280" cy="443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0a933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" name="Text 1"/>
          <p:cNvSpPr/>
          <p:nvPr/>
        </p:nvSpPr>
        <p:spPr>
          <a:xfrm>
            <a:off x="365760" y="0"/>
            <a:ext cx="84114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IMPLEMENTATION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7268040" y="-11880"/>
            <a:ext cx="1919160" cy="1187640"/>
          </a:xfrm>
          <a:prstGeom prst="rect">
            <a:avLst/>
          </a:prstGeom>
          <a:solidFill>
            <a:srgbClr val="00a933"/>
          </a:solidFill>
          <a:ln w="12600">
            <a:solidFill>
              <a:srgbClr val="0d1b4b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" name="Text 3"/>
          <p:cNvSpPr/>
          <p:nvPr/>
        </p:nvSpPr>
        <p:spPr>
          <a:xfrm>
            <a:off x="7268040" y="-182160"/>
            <a:ext cx="19191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4a435"/>
                </a:solidFill>
                <a:latin typeface="Georgia"/>
                <a:ea typeface="Georgia"/>
              </a:rPr>
              <a:t>9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7268040" y="36828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Tables Created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2468880" y="166428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Bookings Loaded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4617720" y="166428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Total Records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6766560" y="1005840"/>
            <a:ext cx="19191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5096520" y="770400"/>
            <a:ext cx="4142160" cy="300888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-63360" y="834120"/>
            <a:ext cx="5143320" cy="287568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-63360" y="3591360"/>
            <a:ext cx="7171200" cy="198972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4"/>
          <a:stretch/>
        </p:blipFill>
        <p:spPr>
          <a:xfrm>
            <a:off x="6732360" y="3504960"/>
            <a:ext cx="2514600" cy="167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0a933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365760" y="0"/>
            <a:ext cx="84114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SAMPLE QUERIES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320040" y="960120"/>
            <a:ext cx="420516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320040" y="960120"/>
            <a:ext cx="5475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960120" y="1051560"/>
            <a:ext cx="34279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List all guests with booking status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960120" y="1527120"/>
            <a:ext cx="3427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748b"/>
                </a:solidFill>
                <a:latin typeface="Courier New"/>
                <a:ea typeface="Courier New"/>
              </a:rPr>
              <a:t>JOIN Guest, Booking, Room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4754880" y="960120"/>
            <a:ext cx="420516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4754880" y="960120"/>
            <a:ext cx="5475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5394960" y="1051560"/>
            <a:ext cx="34279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Unpaid invoices with guest names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5394960" y="1527120"/>
            <a:ext cx="3427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748b"/>
                </a:solidFill>
                <a:latin typeface="Courier New"/>
                <a:ea typeface="Courier New"/>
              </a:rPr>
              <a:t>WHERE status = 'Unpaid'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320040" y="2286000"/>
            <a:ext cx="420516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320040" y="2286000"/>
            <a:ext cx="5475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960120" y="2377440"/>
            <a:ext cx="34279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Total payments per payment method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960120" y="2853000"/>
            <a:ext cx="3427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748b"/>
                </a:solidFill>
                <a:latin typeface="Courier New"/>
                <a:ea typeface="Courier New"/>
              </a:rPr>
              <a:t>GROUP BY payment_method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7"/>
          <p:cNvSpPr/>
          <p:nvPr/>
        </p:nvSpPr>
        <p:spPr>
          <a:xfrm>
            <a:off x="4754880" y="2286000"/>
            <a:ext cx="4205160" cy="1141920"/>
          </a:xfrm>
          <a:prstGeom prst="rect">
            <a:avLst/>
          </a:prstGeom>
          <a:solidFill>
            <a:srgbClr val="e8f4f8"/>
          </a:solidFill>
          <a:ln w="12600">
            <a:solidFill>
              <a:srgbClr val="cce4ea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4754880" y="2286000"/>
            <a:ext cx="5475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Text 20"/>
          <p:cNvSpPr/>
          <p:nvPr/>
        </p:nvSpPr>
        <p:spPr>
          <a:xfrm>
            <a:off x="5394960" y="2377440"/>
            <a:ext cx="34279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Services used by a specific guest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1"/>
          <p:cNvSpPr/>
          <p:nvPr/>
        </p:nvSpPr>
        <p:spPr>
          <a:xfrm>
            <a:off x="5394960" y="2853000"/>
            <a:ext cx="3427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748b"/>
                </a:solidFill>
                <a:latin typeface="Courier New"/>
                <a:ea typeface="Courier New"/>
              </a:rPr>
              <a:t>Multi-table JOIN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0a933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3" name="Text 27"/>
          <p:cNvSpPr/>
          <p:nvPr/>
        </p:nvSpPr>
        <p:spPr>
          <a:xfrm>
            <a:off x="365760" y="0"/>
            <a:ext cx="84114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QUERY DEMONSTRATION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4"/>
          <p:cNvSpPr/>
          <p:nvPr/>
        </p:nvSpPr>
        <p:spPr>
          <a:xfrm>
            <a:off x="320040" y="914400"/>
            <a:ext cx="8502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Georgia"/>
                <a:ea typeface="Georgia"/>
              </a:rPr>
              <a:t>Query: Total payments per payment method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320040" y="1325880"/>
            <a:ext cx="8502840" cy="657360"/>
          </a:xfrm>
          <a:prstGeom prst="rect">
            <a:avLst/>
          </a:prstGeom>
          <a:solidFill>
            <a:srgbClr val="158466"/>
          </a:solidFill>
          <a:ln w="126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" name="Text 35"/>
          <p:cNvSpPr/>
          <p:nvPr/>
        </p:nvSpPr>
        <p:spPr>
          <a:xfrm>
            <a:off x="457200" y="1325880"/>
            <a:ext cx="82285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dd3fc"/>
                </a:solidFill>
                <a:latin typeface="Courier New"/>
                <a:ea typeface="Courier New"/>
              </a:rPr>
              <a:t>SELECT payment_method, SUM(amount_paid) AS total_received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dd3fc"/>
                </a:solidFill>
                <a:latin typeface="Courier New"/>
                <a:ea typeface="Courier New"/>
              </a:rPr>
              <a:t>FROM Payment GROUP BY payment_method;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8"/>
          <p:cNvSpPr/>
          <p:nvPr/>
        </p:nvSpPr>
        <p:spPr>
          <a:xfrm>
            <a:off x="320040" y="1887120"/>
            <a:ext cx="8502840" cy="2650680"/>
          </a:xfrm>
          <a:prstGeom prst="rect">
            <a:avLst/>
          </a:prstGeom>
          <a:solidFill>
            <a:srgbClr val="f8fafb"/>
          </a:solidFill>
          <a:ln w="0">
            <a:solidFill>
              <a:srgbClr val="cce4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42480" y="1926720"/>
            <a:ext cx="9142920" cy="1500480"/>
          </a:xfrm>
          <a:prstGeom prst="rect">
            <a:avLst/>
          </a:prstGeom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2"/>
          <a:stretch/>
        </p:blipFill>
        <p:spPr>
          <a:xfrm>
            <a:off x="6894000" y="3427200"/>
            <a:ext cx="2286000" cy="171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85000">
              <a:srgbClr val="127622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18"/>
          <p:cNvSpPr/>
          <p:nvPr/>
        </p:nvSpPr>
        <p:spPr>
          <a:xfrm>
            <a:off x="365760" y="457200"/>
            <a:ext cx="8411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4a435"/>
                </a:solidFill>
                <a:latin typeface="Georgia"/>
                <a:ea typeface="Georgia"/>
              </a:rPr>
              <a:t>CONCLUSION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653760" y="190440"/>
            <a:ext cx="84114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4a435"/>
                </a:solidFill>
                <a:latin typeface="Times New Roman"/>
                <a:ea typeface="Calibri"/>
              </a:rPr>
              <a:t>9 entities</a:t>
            </a: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Calibri"/>
              </a:rPr>
              <a:t> designed, implemented, and populated in MariaDB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4a435"/>
                </a:solidFill>
                <a:latin typeface="Times New Roman"/>
                <a:ea typeface="Calibri"/>
              </a:rPr>
              <a:t>All foreign key constraints</a:t>
            </a: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Calibri"/>
              </a:rPr>
              <a:t> enforced for data integrity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4a435"/>
                </a:solidFill>
                <a:latin typeface="Times New Roman"/>
                <a:ea typeface="Calibri"/>
              </a:rPr>
              <a:t>8 sample queries</a:t>
            </a: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Calibri"/>
              </a:rPr>
              <a:t> demonstrating real billing and reporting needs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4a435"/>
                </a:solidFill>
                <a:latin typeface="Times New Roman"/>
                <a:ea typeface="Calibri"/>
              </a:rPr>
              <a:t>System supports</a:t>
            </a: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Calibri"/>
              </a:rPr>
              <a:t> front desk, cashier, and management operations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365760" y="429768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acccc"/>
                </a:solidFill>
                <a:latin typeface="Calibri"/>
                <a:ea typeface="Calibri"/>
              </a:rPr>
              <a:t>Thank you  |    |  Group 6 | 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5715000" y="2851560"/>
            <a:ext cx="3429000" cy="228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2026-05-06T05:38:44Z</dcterms:created>
  <dc:creator>PptxGenJS</dc:creator>
  <dc:description/>
  <dc:language>en-US</dc:language>
  <cp:lastModifiedBy/>
  <dcterms:modified xsi:type="dcterms:W3CDTF">2026-05-07T00:34:30Z</dcterms:modified>
  <cp:revision>11</cp:revision>
  <dc:subject>PptxGenJS Presentation</dc:subject>
  <dc:title>Hotel Billing and Payment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